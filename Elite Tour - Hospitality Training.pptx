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image" Target="../media/image-9-15.png"/><Relationship Id="rId16" Type="http://schemas.openxmlformats.org/officeDocument/2006/relationships/image" Target="../media/image-9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8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8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ELITE TOUR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spc="5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CLASS HOSPITALITY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2926080"/>
            <a:ext cx="182880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2004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EF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Crew &amp; Guide Training Program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BLUUU TOURS  </a:t>
            </a:r>
            <a:pPr indent="0" marL="0">
              <a:buNone/>
            </a:pPr>
            <a:r>
              <a:rPr lang="en-US" sz="1200" spc="400" kern="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 FORTUNE YACHTS</a:t>
            </a:r>
            <a:endParaRPr lang="en-US" sz="1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371600"/>
            <a:ext cx="640080" cy="6400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C9A84C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E8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82DA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8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</a:t>
            </a:r>
            <a:endParaRPr lang="en-US" sz="2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8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ELITE TOUR?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4747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931920" y="4572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8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Ultimate Bluuu Experience</a:t>
            </a:r>
            <a:endParaRPr lang="en-US" sz="20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1207008"/>
            <a:ext cx="256032" cy="2560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43400" y="118872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from Premium Tour — plus next-level luxury</a:t>
            </a:r>
            <a:endParaRPr lang="en-US" sz="12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1600200"/>
            <a:ext cx="256032" cy="25603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343400" y="158191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yacht Eldorado by Fortune Yachts</a:t>
            </a:r>
            <a:endParaRPr lang="en-US" sz="12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0" y="1993392"/>
            <a:ext cx="256032" cy="25603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343400" y="1975104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Free-flow champagne throughout the journey</a:t>
            </a:r>
            <a:endParaRPr lang="en-US" sz="12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1920" y="2386584"/>
            <a:ext cx="256032" cy="256032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4343400" y="2368296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Exclusive drone footage &amp; photography</a:t>
            </a:r>
            <a:endParaRPr lang="en-US" sz="120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31920" y="2779776"/>
            <a:ext cx="256032" cy="256032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4343400" y="276148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 location stop at golden hour</a:t>
            </a:r>
            <a:endParaRPr lang="en-US" sz="1200" dirty="0"/>
          </a:p>
        </p:txBody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31920" y="3172968"/>
            <a:ext cx="256032" cy="256032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4343400" y="315468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 dining at a luxury hotel restaurant</a:t>
            </a:r>
            <a:endParaRPr lang="en-US" sz="1200" dirty="0"/>
          </a:p>
        </p:txBody>
      </p:sp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31920" y="3566160"/>
            <a:ext cx="256032" cy="256032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4343400" y="354787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Breakfast included before departure</a:t>
            </a:r>
            <a:endParaRPr lang="en-US" sz="1200" dirty="0"/>
          </a:p>
        </p:txBody>
      </p:sp>
      <p:pic>
        <p:nvPicPr>
          <p:cNvPr id="2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31920" y="3959352"/>
            <a:ext cx="256032" cy="256032"/>
          </a:xfrm>
          <a:prstGeom prst="rect">
            <a:avLst/>
          </a:prstGeom>
        </p:spPr>
      </p:pic>
      <p:sp>
        <p:nvSpPr>
          <p:cNvPr id="21" name="Text 10"/>
          <p:cNvSpPr/>
          <p:nvPr/>
        </p:nvSpPr>
        <p:spPr>
          <a:xfrm>
            <a:off x="4343400" y="3941064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5-star rated guides with 3+ years experience</a:t>
            </a:r>
            <a:endParaRPr lang="en-US" sz="1200" dirty="0"/>
          </a:p>
        </p:txBody>
      </p:sp>
      <p:pic>
        <p:nvPicPr>
          <p:cNvPr id="2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31920" y="4352544"/>
            <a:ext cx="256032" cy="256032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4343400" y="4334256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Handpicked, most experienced crew</a:t>
            </a:r>
            <a:endParaRPr lang="en-US" sz="1200" dirty="0"/>
          </a:p>
        </p:txBody>
      </p:sp>
      <p:sp>
        <p:nvSpPr>
          <p:cNvPr id="24" name="Shape 1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C9A84C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8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CLASS MINDSET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137160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371600"/>
            <a:ext cx="2468880" cy="3108960"/>
          </a:xfrm>
          <a:prstGeom prst="rect">
            <a:avLst/>
          </a:prstGeom>
          <a:solidFill>
            <a:srgbClr val="0F1E6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246888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00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ANTICIPATE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194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BEF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wait for guests to ask.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BEF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the need before they feel it.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BEF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Refill a glass before it's empty.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BEF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 sunscreen before they burn.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566160" y="1371600"/>
            <a:ext cx="2468880" cy="3108960"/>
          </a:xfrm>
          <a:prstGeom prst="rect">
            <a:avLst/>
          </a:prstGeom>
          <a:solidFill>
            <a:srgbClr val="0F1E6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66160" y="1371600"/>
            <a:ext cx="246888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1600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749040" y="2194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BEF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their names. Remember preferences.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BEF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once, remember forever.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BEF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 mentioned you love photography —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BEF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saved the best angle for you."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0" y="1371600"/>
            <a:ext cx="2468880" cy="3108960"/>
          </a:xfrm>
          <a:prstGeom prst="rect">
            <a:avLst/>
          </a:prstGeom>
          <a:solidFill>
            <a:srgbClr val="0F1E6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0" y="1371600"/>
            <a:ext cx="246888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1600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INVISIBLE EFFORT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83680" y="2194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BEF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looks effortless.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BEF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rushing, no stress, no problems.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BEF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Behind the scenes = your chaos.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BEF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front of the guest = pure calm.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C9A84C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8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0A18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ABOARD RITUAL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37160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371600"/>
            <a:ext cx="196596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371600"/>
            <a:ext cx="1965960" cy="54864"/>
          </a:xfrm>
          <a:prstGeom prst="rect">
            <a:avLst/>
          </a:prstGeom>
          <a:solidFill>
            <a:srgbClr val="182DA8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5544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82D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20040" y="2011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A18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GREETING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1645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Captain and crew line up at the dock.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Smile, eye contact, firm but warm handshake.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"Welcome aboard Eldorado. We've been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expecting you."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60320" y="1371600"/>
            <a:ext cx="196596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0" y="1371600"/>
            <a:ext cx="1965960" cy="54864"/>
          </a:xfrm>
          <a:prstGeom prst="rect">
            <a:avLst/>
          </a:prstGeom>
          <a:solidFill>
            <a:srgbClr val="182DA8"/>
          </a:solidFill>
          <a:ln/>
        </p:spPr>
      </p:sp>
      <p:sp>
        <p:nvSpPr>
          <p:cNvPr id="11" name="Text 9"/>
          <p:cNvSpPr/>
          <p:nvPr/>
        </p:nvSpPr>
        <p:spPr>
          <a:xfrm>
            <a:off x="2560320" y="15544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82D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560320" y="2011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A18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 TOWEL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97480" y="2468880"/>
            <a:ext cx="1645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 chilled lemongrass-scented towel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 branded tray immediately.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"Here's a refreshing towel for you."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hand it — never leave on a table.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00600" y="1371600"/>
            <a:ext cx="196596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00600" y="1371600"/>
            <a:ext cx="1965960" cy="54864"/>
          </a:xfrm>
          <a:prstGeom prst="rect">
            <a:avLst/>
          </a:prstGeom>
          <a:solidFill>
            <a:srgbClr val="182DA8"/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15544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82D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800600" y="2011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A18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DRINK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2468880"/>
            <a:ext cx="1645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Bluuu Signature Blue Drink (non-alcoholic).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Served in branded glass on a tray.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"Our signature welcome drink while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prepare everything for you."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040880" y="1371600"/>
            <a:ext cx="196596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040880" y="1371600"/>
            <a:ext cx="1965960" cy="54864"/>
          </a:xfrm>
          <a:prstGeom prst="rect">
            <a:avLst/>
          </a:prstGeom>
          <a:solidFill>
            <a:srgbClr val="182DA8"/>
          </a:solidFill>
          <a:ln/>
        </p:spPr>
      </p:sp>
      <p:sp>
        <p:nvSpPr>
          <p:cNvPr id="21" name="Text 19"/>
          <p:cNvSpPr/>
          <p:nvPr/>
        </p:nvSpPr>
        <p:spPr>
          <a:xfrm>
            <a:off x="7040880" y="15544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82D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040880" y="2011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A18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178040" y="2468880"/>
            <a:ext cx="1645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2-minute yacht tour.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points + comfort features.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champagne bar is here, restrooms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this way, and your seats are ready."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182DA8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8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TIMELINE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EF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and when — every moment is planned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26464"/>
            <a:ext cx="146304" cy="1463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371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06:30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920240" y="1371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E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Breakfast service at hotel pickup point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28216"/>
            <a:ext cx="146304" cy="14630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51560" y="16733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07:00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1920240" y="16733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EF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Pickup &amp; transfer to harbor</a:t>
            </a:r>
            <a:endParaRPr lang="en-US" sz="11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029968"/>
            <a:ext cx="146304" cy="14630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51560" y="197510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08:00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1920240" y="1975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E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Aboard Ritual (towel, drink, orientation)</a:t>
            </a:r>
            <a:endParaRPr lang="en-US" sz="11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331720"/>
            <a:ext cx="146304" cy="14630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51560" y="22768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08:15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1920240" y="227685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EF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Departure — champagne service begins</a:t>
            </a:r>
            <a:endParaRPr lang="en-US" sz="11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2633472"/>
            <a:ext cx="146304" cy="14630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51560" y="25786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09:00</a:t>
            </a:r>
            <a:endParaRPr lang="en-US" sz="1100" dirty="0"/>
          </a:p>
        </p:txBody>
      </p:sp>
      <p:sp>
        <p:nvSpPr>
          <p:cNvPr id="19" name="Text 12"/>
          <p:cNvSpPr/>
          <p:nvPr/>
        </p:nvSpPr>
        <p:spPr>
          <a:xfrm>
            <a:off x="1920240" y="2578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EF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Snorkeling spot #1 — gear up, GoPro check</a:t>
            </a:r>
            <a:endParaRPr lang="en-US" sz="11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2935224"/>
            <a:ext cx="146304" cy="146304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051560" y="2880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10:30</a:t>
            </a:r>
            <a:endParaRPr lang="en-US" sz="1100" dirty="0"/>
          </a:p>
        </p:txBody>
      </p:sp>
      <p:sp>
        <p:nvSpPr>
          <p:cNvPr id="22" name="Text 14"/>
          <p:cNvSpPr/>
          <p:nvPr/>
        </p:nvSpPr>
        <p:spPr>
          <a:xfrm>
            <a:off x="1920240" y="28803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EF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Snorkeling with manta rays — guide leads</a:t>
            </a:r>
            <a:endParaRPr lang="en-US" sz="110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3236976"/>
            <a:ext cx="146304" cy="146304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1051560" y="318211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12:00</a:t>
            </a:r>
            <a:endParaRPr lang="en-US" sz="1100" dirty="0"/>
          </a:p>
        </p:txBody>
      </p:sp>
      <p:sp>
        <p:nvSpPr>
          <p:cNvPr id="25" name="Text 16"/>
          <p:cNvSpPr/>
          <p:nvPr/>
        </p:nvSpPr>
        <p:spPr>
          <a:xfrm>
            <a:off x="1920240" y="31821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E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 Location — golden hour photo session</a:t>
            </a:r>
            <a:endParaRPr lang="en-US" sz="1100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520" y="3538728"/>
            <a:ext cx="146304" cy="146304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1051560" y="34838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12:30</a:t>
            </a:r>
            <a:endParaRPr lang="en-US" sz="1100" dirty="0"/>
          </a:p>
        </p:txBody>
      </p:sp>
      <p:sp>
        <p:nvSpPr>
          <p:cNvPr id="28" name="Text 18"/>
          <p:cNvSpPr/>
          <p:nvPr/>
        </p:nvSpPr>
        <p:spPr>
          <a:xfrm>
            <a:off x="1920240" y="34838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EF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Drone photography session</a:t>
            </a:r>
            <a:endParaRPr lang="en-US" sz="1100" dirty="0"/>
          </a:p>
        </p:txBody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520" y="3840480"/>
            <a:ext cx="146304" cy="146304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1051560" y="378561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13:00</a:t>
            </a:r>
            <a:endParaRPr lang="en-US" sz="1100" dirty="0"/>
          </a:p>
        </p:txBody>
      </p:sp>
      <p:sp>
        <p:nvSpPr>
          <p:cNvPr id="31" name="Text 20"/>
          <p:cNvSpPr/>
          <p:nvPr/>
        </p:nvSpPr>
        <p:spPr>
          <a:xfrm>
            <a:off x="1920240" y="37856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EF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Luxury restaurant lunch at 5-star hotel</a:t>
            </a:r>
            <a:endParaRPr lang="en-US" sz="1100" dirty="0"/>
          </a:p>
        </p:txBody>
      </p:sp>
      <p:pic>
        <p:nvPicPr>
          <p:cNvPr id="3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1520" y="4142232"/>
            <a:ext cx="146304" cy="146304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1051560" y="408736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14:30</a:t>
            </a:r>
            <a:endParaRPr lang="en-US" sz="1100" dirty="0"/>
          </a:p>
        </p:txBody>
      </p:sp>
      <p:sp>
        <p:nvSpPr>
          <p:cNvPr id="34" name="Text 22"/>
          <p:cNvSpPr/>
          <p:nvPr/>
        </p:nvSpPr>
        <p:spPr>
          <a:xfrm>
            <a:off x="1920240" y="40873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E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Island tour — Nusa Penida highlights</a:t>
            </a:r>
            <a:endParaRPr lang="en-US" sz="1100" dirty="0"/>
          </a:p>
        </p:txBody>
      </p:sp>
      <p:pic>
        <p:nvPicPr>
          <p:cNvPr id="3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1520" y="4443984"/>
            <a:ext cx="146304" cy="146304"/>
          </a:xfrm>
          <a:prstGeom prst="rect">
            <a:avLst/>
          </a:prstGeom>
        </p:spPr>
      </p:pic>
      <p:sp>
        <p:nvSpPr>
          <p:cNvPr id="36" name="Text 23"/>
          <p:cNvSpPr/>
          <p:nvPr/>
        </p:nvSpPr>
        <p:spPr>
          <a:xfrm>
            <a:off x="1051560" y="43891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16:00</a:t>
            </a:r>
            <a:endParaRPr lang="en-US" sz="1100" dirty="0"/>
          </a:p>
        </p:txBody>
      </p:sp>
      <p:sp>
        <p:nvSpPr>
          <p:cNvPr id="37" name="Text 24"/>
          <p:cNvSpPr/>
          <p:nvPr/>
        </p:nvSpPr>
        <p:spPr>
          <a:xfrm>
            <a:off x="1920240" y="43891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EF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journey — sunset champagne toast</a:t>
            </a:r>
            <a:endParaRPr lang="en-US" sz="1100" dirty="0"/>
          </a:p>
        </p:txBody>
      </p:sp>
      <p:pic>
        <p:nvPicPr>
          <p:cNvPr id="3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1520" y="4745736"/>
            <a:ext cx="146304" cy="146304"/>
          </a:xfrm>
          <a:prstGeom prst="rect">
            <a:avLst/>
          </a:prstGeom>
        </p:spPr>
      </p:pic>
      <p:sp>
        <p:nvSpPr>
          <p:cNvPr id="39" name="Text 25"/>
          <p:cNvSpPr/>
          <p:nvPr/>
        </p:nvSpPr>
        <p:spPr>
          <a:xfrm>
            <a:off x="1051560" y="469087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17:00</a:t>
            </a:r>
            <a:endParaRPr lang="en-US" sz="1100" dirty="0"/>
          </a:p>
        </p:txBody>
      </p:sp>
      <p:sp>
        <p:nvSpPr>
          <p:cNvPr id="40" name="Text 26"/>
          <p:cNvSpPr/>
          <p:nvPr/>
        </p:nvSpPr>
        <p:spPr>
          <a:xfrm>
            <a:off x="1920240" y="46908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E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Farewell — branded gift bag, thank you</a:t>
            </a:r>
            <a:endParaRPr lang="en-US" sz="1100" dirty="0"/>
          </a:p>
        </p:txBody>
      </p:sp>
      <p:sp>
        <p:nvSpPr>
          <p:cNvPr id="41" name="Shape 27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C9A84C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E8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0A18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CHAMPAGNE &amp; DRINKS SERVICE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37160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371600"/>
            <a:ext cx="3840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3840480" cy="54864"/>
          </a:xfrm>
          <a:prstGeom prst="rect">
            <a:avLst/>
          </a:prstGeom>
          <a:solidFill>
            <a:srgbClr val="182DA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544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82D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</a:t>
            </a:r>
            <a:endParaRPr lang="en-US" sz="1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103120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20574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pour champagne in front of the guest</a:t>
            </a:r>
            <a:endParaRPr lang="en-US" sz="10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450592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60120" y="24048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 bottle by the base, label facing guest</a:t>
            </a:r>
            <a:endParaRPr lang="en-US" sz="10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98064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0120" y="275234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 top-ups proactively every 15-20 min</a:t>
            </a:r>
            <a:endParaRPr lang="en-US" sz="10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145536"/>
            <a:ext cx="201168" cy="2011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60120" y="309981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 welcome Bluuu Drink to non-drinkers</a:t>
            </a:r>
            <a:endParaRPr lang="en-US" sz="10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493008"/>
            <a:ext cx="201168" cy="20116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60120" y="34472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bottles chilled at all times</a:t>
            </a:r>
            <a:endParaRPr lang="en-US" sz="105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840480"/>
            <a:ext cx="201168" cy="201168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960120" y="37947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clean glasses for each new pour</a:t>
            </a:r>
            <a:endParaRPr lang="en-US" sz="105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187952"/>
            <a:ext cx="201168" cy="201168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960120" y="4142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the champagne brand name &amp; story</a:t>
            </a:r>
            <a:endParaRPr lang="en-US" sz="1050" dirty="0"/>
          </a:p>
        </p:txBody>
      </p:sp>
      <p:sp>
        <p:nvSpPr>
          <p:cNvPr id="21" name="Shape 12"/>
          <p:cNvSpPr/>
          <p:nvPr/>
        </p:nvSpPr>
        <p:spPr>
          <a:xfrm>
            <a:off x="4846320" y="1371600"/>
            <a:ext cx="3840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3"/>
          <p:cNvSpPr/>
          <p:nvPr/>
        </p:nvSpPr>
        <p:spPr>
          <a:xfrm>
            <a:off x="4846320" y="1371600"/>
            <a:ext cx="3840480" cy="54864"/>
          </a:xfrm>
          <a:prstGeom prst="rect">
            <a:avLst/>
          </a:prstGeom>
          <a:solidFill>
            <a:srgbClr val="CC3333"/>
          </a:solidFill>
          <a:ln/>
        </p:spPr>
      </p:sp>
      <p:sp>
        <p:nvSpPr>
          <p:cNvPr id="23" name="Text 14"/>
          <p:cNvSpPr/>
          <p:nvPr/>
        </p:nvSpPr>
        <p:spPr>
          <a:xfrm>
            <a:off x="4846320" y="15544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C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</a:t>
            </a:r>
            <a:endParaRPr lang="en-US" sz="1800" dirty="0"/>
          </a:p>
        </p:txBody>
      </p:sp>
      <p:sp>
        <p:nvSpPr>
          <p:cNvPr id="24" name="Shape 15"/>
          <p:cNvSpPr/>
          <p:nvPr/>
        </p:nvSpPr>
        <p:spPr>
          <a:xfrm>
            <a:off x="5047488" y="2139696"/>
            <a:ext cx="164592" cy="164592"/>
          </a:xfrm>
          <a:prstGeom prst="ellipse">
            <a:avLst/>
          </a:prstGeom>
          <a:solidFill>
            <a:srgbClr val="CC3333"/>
          </a:solidFill>
          <a:ln/>
        </p:spPr>
      </p:sp>
      <p:sp>
        <p:nvSpPr>
          <p:cNvPr id="25" name="Text 16"/>
          <p:cNvSpPr/>
          <p:nvPr/>
        </p:nvSpPr>
        <p:spPr>
          <a:xfrm>
            <a:off x="5349240" y="20574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let a glass sit empty for more than 5 min</a:t>
            </a:r>
            <a:endParaRPr lang="en-US" sz="1050" dirty="0"/>
          </a:p>
        </p:txBody>
      </p:sp>
      <p:sp>
        <p:nvSpPr>
          <p:cNvPr id="26" name="Shape 17"/>
          <p:cNvSpPr/>
          <p:nvPr/>
        </p:nvSpPr>
        <p:spPr>
          <a:xfrm>
            <a:off x="5047488" y="2487168"/>
            <a:ext cx="164592" cy="164592"/>
          </a:xfrm>
          <a:prstGeom prst="ellipse">
            <a:avLst/>
          </a:prstGeom>
          <a:solidFill>
            <a:srgbClr val="CC3333"/>
          </a:solidFill>
          <a:ln/>
        </p:spPr>
      </p:sp>
      <p:sp>
        <p:nvSpPr>
          <p:cNvPr id="27" name="Text 18"/>
          <p:cNvSpPr/>
          <p:nvPr/>
        </p:nvSpPr>
        <p:spPr>
          <a:xfrm>
            <a:off x="5349240" y="24048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pour without asking first</a:t>
            </a:r>
            <a:endParaRPr lang="en-US" sz="1050" dirty="0"/>
          </a:p>
        </p:txBody>
      </p:sp>
      <p:sp>
        <p:nvSpPr>
          <p:cNvPr id="28" name="Shape 19"/>
          <p:cNvSpPr/>
          <p:nvPr/>
        </p:nvSpPr>
        <p:spPr>
          <a:xfrm>
            <a:off x="5047488" y="2834640"/>
            <a:ext cx="164592" cy="164592"/>
          </a:xfrm>
          <a:prstGeom prst="ellipse">
            <a:avLst/>
          </a:prstGeom>
          <a:solidFill>
            <a:srgbClr val="CC3333"/>
          </a:solidFill>
          <a:ln/>
        </p:spPr>
      </p:sp>
      <p:sp>
        <p:nvSpPr>
          <p:cNvPr id="29" name="Text 20"/>
          <p:cNvSpPr/>
          <p:nvPr/>
        </p:nvSpPr>
        <p:spPr>
          <a:xfrm>
            <a:off x="5349240" y="275234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serve warm champagne</a:t>
            </a:r>
            <a:endParaRPr lang="en-US" sz="1050" dirty="0"/>
          </a:p>
        </p:txBody>
      </p:sp>
      <p:sp>
        <p:nvSpPr>
          <p:cNvPr id="30" name="Shape 21"/>
          <p:cNvSpPr/>
          <p:nvPr/>
        </p:nvSpPr>
        <p:spPr>
          <a:xfrm>
            <a:off x="5047488" y="3182112"/>
            <a:ext cx="164592" cy="164592"/>
          </a:xfrm>
          <a:prstGeom prst="ellipse">
            <a:avLst/>
          </a:prstGeom>
          <a:solidFill>
            <a:srgbClr val="CC3333"/>
          </a:solidFill>
          <a:ln/>
        </p:spPr>
      </p:sp>
      <p:sp>
        <p:nvSpPr>
          <p:cNvPr id="31" name="Text 22"/>
          <p:cNvSpPr/>
          <p:nvPr/>
        </p:nvSpPr>
        <p:spPr>
          <a:xfrm>
            <a:off x="5349240" y="309981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leave opened bottles on deck unattended</a:t>
            </a:r>
            <a:endParaRPr lang="en-US" sz="1050" dirty="0"/>
          </a:p>
        </p:txBody>
      </p:sp>
      <p:sp>
        <p:nvSpPr>
          <p:cNvPr id="32" name="Shape 23"/>
          <p:cNvSpPr/>
          <p:nvPr/>
        </p:nvSpPr>
        <p:spPr>
          <a:xfrm>
            <a:off x="5047488" y="3529584"/>
            <a:ext cx="164592" cy="164592"/>
          </a:xfrm>
          <a:prstGeom prst="ellipse">
            <a:avLst/>
          </a:prstGeom>
          <a:solidFill>
            <a:srgbClr val="CC3333"/>
          </a:solidFill>
          <a:ln/>
        </p:spPr>
      </p:sp>
      <p:sp>
        <p:nvSpPr>
          <p:cNvPr id="33" name="Text 24"/>
          <p:cNvSpPr/>
          <p:nvPr/>
        </p:nvSpPr>
        <p:spPr>
          <a:xfrm>
            <a:off x="5349240" y="34472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rush guests who are savoring</a:t>
            </a:r>
            <a:endParaRPr lang="en-US" sz="1050" dirty="0"/>
          </a:p>
        </p:txBody>
      </p:sp>
      <p:sp>
        <p:nvSpPr>
          <p:cNvPr id="34" name="Shape 25"/>
          <p:cNvSpPr/>
          <p:nvPr/>
        </p:nvSpPr>
        <p:spPr>
          <a:xfrm>
            <a:off x="5047488" y="3877056"/>
            <a:ext cx="164592" cy="164592"/>
          </a:xfrm>
          <a:prstGeom prst="ellipse">
            <a:avLst/>
          </a:prstGeom>
          <a:solidFill>
            <a:srgbClr val="CC3333"/>
          </a:solidFill>
          <a:ln/>
        </p:spPr>
      </p:sp>
      <p:sp>
        <p:nvSpPr>
          <p:cNvPr id="35" name="Text 26"/>
          <p:cNvSpPr/>
          <p:nvPr/>
        </p:nvSpPr>
        <p:spPr>
          <a:xfrm>
            <a:off x="5349240" y="37947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forget to offer non-alcoholic alternatives</a:t>
            </a:r>
            <a:endParaRPr lang="en-US" sz="1050" dirty="0"/>
          </a:p>
        </p:txBody>
      </p:sp>
      <p:sp>
        <p:nvSpPr>
          <p:cNvPr id="36" name="Shape 27"/>
          <p:cNvSpPr/>
          <p:nvPr/>
        </p:nvSpPr>
        <p:spPr>
          <a:xfrm>
            <a:off x="5047488" y="4224528"/>
            <a:ext cx="164592" cy="164592"/>
          </a:xfrm>
          <a:prstGeom prst="ellipse">
            <a:avLst/>
          </a:prstGeom>
          <a:solidFill>
            <a:srgbClr val="CC3333"/>
          </a:solidFill>
          <a:ln/>
        </p:spPr>
      </p:sp>
      <p:sp>
        <p:nvSpPr>
          <p:cNvPr id="37" name="Text 28"/>
          <p:cNvSpPr/>
          <p:nvPr/>
        </p:nvSpPr>
        <p:spPr>
          <a:xfrm>
            <a:off x="5349240" y="4142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pour more than 2/3 of the glass</a:t>
            </a:r>
            <a:endParaRPr lang="en-US" sz="1050" dirty="0"/>
          </a:p>
        </p:txBody>
      </p:sp>
      <p:sp>
        <p:nvSpPr>
          <p:cNvPr id="38" name="Shape 29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182DA8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8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SNORKELING &amp; WATER ACTIVITIES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868680"/>
            <a:ext cx="137160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4023360" cy="1691640"/>
          </a:xfrm>
          <a:prstGeom prst="rect">
            <a:avLst/>
          </a:prstGeom>
          <a:solidFill>
            <a:srgbClr val="0F1E6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64008" cy="16916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280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GEAR CHECK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60020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BEF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anti-fog masks fitted to each guest personally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BEF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GoPro assigned and tested before entering water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BEF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Wetsuit/rash guard offered — never assume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4023360" cy="1691640"/>
          </a:xfrm>
          <a:prstGeom prst="rect">
            <a:avLst/>
          </a:prstGeom>
          <a:solidFill>
            <a:srgbClr val="0F1E6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188720"/>
            <a:ext cx="64008" cy="16916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280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WATER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83480" y="160020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BEF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 enters water FIRST — always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BEF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 within arm's reach of nervous swimmers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BEF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out marine life — be an ocean storyteller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BEF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Mantas: brief guests on behavior (no touching, calm)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3154680"/>
            <a:ext cx="4023360" cy="1691640"/>
          </a:xfrm>
          <a:prstGeom prst="rect">
            <a:avLst/>
          </a:prstGeom>
          <a:solidFill>
            <a:srgbClr val="0F1E6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154680"/>
            <a:ext cx="64008" cy="16916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246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ON BOARD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" y="356616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BEF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 towels ready on deck before they climb up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BEF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 tea/water immediately available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BEF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 remove gear — don't just watch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BEF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about their experience — show genuine interest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54880" y="3154680"/>
            <a:ext cx="4023360" cy="1691640"/>
          </a:xfrm>
          <a:prstGeom prst="rect">
            <a:avLst/>
          </a:prstGeom>
          <a:solidFill>
            <a:srgbClr val="0F1E6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3154680"/>
            <a:ext cx="64008" cy="16916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3246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FIRST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83480" y="356616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BEF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count before and after every water stop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BEF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 fatigue, cold, or anxiety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BEF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have rescue equipment within reach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BEF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guest enters water without life vest briefing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C9A84C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E8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0A18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DRONE &amp; PHOTOGRAPHY SESSION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37160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371600"/>
            <a:ext cx="26060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260604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002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A18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GUIDE'S ROLE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2240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guests for best angles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 natural poses — no forced smiles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 photos to the secret location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 timing with drone operator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it fun — not a photo shoot obligation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1371600"/>
            <a:ext cx="26060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37560" y="1371600"/>
            <a:ext cx="260604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16002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A18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CREW'S ROLE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20440" y="2103120"/>
            <a:ext cx="2240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yacht clean and photogenic at all times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clutter from visible areas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champagne setup for beauty shots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 out of guest photo frames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 with props if needed (towels, drinks)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26060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371600"/>
            <a:ext cx="260604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6002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A18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 RULES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0" y="2103120"/>
            <a:ext cx="2240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ask before taking close-ups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candid moments — not just posed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 hour at secret location = priority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photos same day if possible (QR/link)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guest should feel like a star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182DA8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8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LUXURY RESTAURANT EXPERIENCE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868680"/>
            <a:ext cx="137160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4023360" cy="1737360"/>
          </a:xfrm>
          <a:prstGeom prst="rect">
            <a:avLst/>
          </a:prstGeom>
          <a:solidFill>
            <a:srgbClr val="0F1E6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ARRIVAL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109728" cy="1097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16276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reservation &amp; special requests (allergies, diet)</a:t>
            </a:r>
            <a:endParaRPr lang="en-US" sz="11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84248"/>
            <a:ext cx="109728" cy="10972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77240" y="1920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should be pre-set and reserved before guests arrive</a:t>
            </a:r>
            <a:endParaRPr lang="en-US" sz="11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276856"/>
            <a:ext cx="109728" cy="10972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77240" y="22128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 restaurant staff on guest names and preferences</a:t>
            </a:r>
            <a:endParaRPr lang="en-US" sz="11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569464"/>
            <a:ext cx="109728" cy="10972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77240" y="250545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 menu options are clear — translate if needed</a:t>
            </a:r>
            <a:endParaRPr lang="en-US" sz="1150" dirty="0"/>
          </a:p>
        </p:txBody>
      </p:sp>
      <p:sp>
        <p:nvSpPr>
          <p:cNvPr id="15" name="Shape 9"/>
          <p:cNvSpPr/>
          <p:nvPr/>
        </p:nvSpPr>
        <p:spPr>
          <a:xfrm>
            <a:off x="4754880" y="1188720"/>
            <a:ext cx="4023360" cy="1737360"/>
          </a:xfrm>
          <a:prstGeom prst="rect">
            <a:avLst/>
          </a:prstGeom>
          <a:solidFill>
            <a:srgbClr val="0F1E6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493776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THE RESTAURANT</a:t>
            </a:r>
            <a:endParaRPr lang="en-US" sz="14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1691640"/>
            <a:ext cx="109728" cy="10972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166360" y="16276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 leads guests to table — pull chairs out</a:t>
            </a:r>
            <a:endParaRPr lang="en-US" sz="11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1984248"/>
            <a:ext cx="109728" cy="10972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166360" y="1920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menu highlights and chef recommendations</a:t>
            </a:r>
            <a:endParaRPr lang="en-US" sz="115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2276856"/>
            <a:ext cx="109728" cy="109728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5166360" y="22128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 all communication with restaurant staff</a:t>
            </a:r>
            <a:endParaRPr lang="en-US" sz="1150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7760" y="2569464"/>
            <a:ext cx="109728" cy="109728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5166360" y="250545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sit with guests or eat — you are their host</a:t>
            </a:r>
            <a:endParaRPr lang="en-US" sz="1150" dirty="0"/>
          </a:p>
        </p:txBody>
      </p:sp>
      <p:sp>
        <p:nvSpPr>
          <p:cNvPr id="25" name="Shape 15"/>
          <p:cNvSpPr/>
          <p:nvPr/>
        </p:nvSpPr>
        <p:spPr>
          <a:xfrm>
            <a:off x="365760" y="3154680"/>
            <a:ext cx="4023360" cy="1737360"/>
          </a:xfrm>
          <a:prstGeom prst="rect">
            <a:avLst/>
          </a:prstGeom>
          <a:solidFill>
            <a:srgbClr val="0F1E6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Text 16"/>
          <p:cNvSpPr/>
          <p:nvPr/>
        </p:nvSpPr>
        <p:spPr>
          <a:xfrm>
            <a:off x="548640" y="3246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DURING THE MEAL</a:t>
            </a:r>
            <a:endParaRPr lang="en-US" sz="1400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3657600"/>
            <a:ext cx="109728" cy="109728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777240" y="35935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 nearby but not hovering — read the room</a:t>
            </a:r>
            <a:endParaRPr lang="en-US" sz="1150" dirty="0"/>
          </a:p>
        </p:txBody>
      </p:sp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640" y="3950208"/>
            <a:ext cx="109728" cy="109728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777240" y="38862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in once after first course, then be available</a:t>
            </a:r>
            <a:endParaRPr lang="en-US" sz="1150" dirty="0"/>
          </a:p>
        </p:txBody>
      </p:sp>
      <p:pic>
        <p:nvPicPr>
          <p:cNvPr id="3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8640" y="4242816"/>
            <a:ext cx="109728" cy="109728"/>
          </a:xfrm>
          <a:prstGeom prst="rect">
            <a:avLst/>
          </a:prstGeom>
        </p:spPr>
      </p:pic>
      <p:sp>
        <p:nvSpPr>
          <p:cNvPr id="32" name="Text 19"/>
          <p:cNvSpPr/>
          <p:nvPr/>
        </p:nvSpPr>
        <p:spPr>
          <a:xfrm>
            <a:off x="777240" y="41788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 any issues silently with restaurant staff</a:t>
            </a:r>
            <a:endParaRPr lang="en-US" sz="1150" dirty="0"/>
          </a:p>
        </p:txBody>
      </p:sp>
      <p:pic>
        <p:nvPicPr>
          <p:cNvPr id="3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8640" y="4535424"/>
            <a:ext cx="109728" cy="109728"/>
          </a:xfrm>
          <a:prstGeom prst="rect">
            <a:avLst/>
          </a:prstGeom>
        </p:spPr>
      </p:pic>
      <p:sp>
        <p:nvSpPr>
          <p:cNvPr id="34" name="Text 20"/>
          <p:cNvSpPr/>
          <p:nvPr/>
        </p:nvSpPr>
        <p:spPr>
          <a:xfrm>
            <a:off x="777240" y="447141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 drinks are flowing — coordinate with waiters</a:t>
            </a:r>
            <a:endParaRPr lang="en-US" sz="1150" dirty="0"/>
          </a:p>
        </p:txBody>
      </p:sp>
      <p:sp>
        <p:nvSpPr>
          <p:cNvPr id="35" name="Shape 21"/>
          <p:cNvSpPr/>
          <p:nvPr/>
        </p:nvSpPr>
        <p:spPr>
          <a:xfrm>
            <a:off x="4754880" y="3154680"/>
            <a:ext cx="4023360" cy="1737360"/>
          </a:xfrm>
          <a:prstGeom prst="rect">
            <a:avLst/>
          </a:prstGeom>
          <a:solidFill>
            <a:srgbClr val="0F1E6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Text 22"/>
          <p:cNvSpPr/>
          <p:nvPr/>
        </p:nvSpPr>
        <p:spPr>
          <a:xfrm>
            <a:off x="4937760" y="3246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THE MEAL</a:t>
            </a:r>
            <a:endParaRPr lang="en-US" sz="1400" dirty="0"/>
          </a:p>
        </p:txBody>
      </p:sp>
      <p:pic>
        <p:nvPicPr>
          <p:cNvPr id="37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37760" y="3657600"/>
            <a:ext cx="109728" cy="109728"/>
          </a:xfrm>
          <a:prstGeom prst="rect">
            <a:avLst/>
          </a:prstGeom>
        </p:spPr>
      </p:pic>
      <p:sp>
        <p:nvSpPr>
          <p:cNvPr id="38" name="Text 23"/>
          <p:cNvSpPr/>
          <p:nvPr/>
        </p:nvSpPr>
        <p:spPr>
          <a:xfrm>
            <a:off x="5166360" y="35935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 is pre-arranged — guests never see a check</a:t>
            </a:r>
            <a:endParaRPr lang="en-US" sz="1150" dirty="0"/>
          </a:p>
        </p:txBody>
      </p:sp>
      <p:pic>
        <p:nvPicPr>
          <p:cNvPr id="39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37760" y="3950208"/>
            <a:ext cx="109728" cy="109728"/>
          </a:xfrm>
          <a:prstGeom prst="rect">
            <a:avLst/>
          </a:prstGeom>
        </p:spPr>
      </p:pic>
      <p:sp>
        <p:nvSpPr>
          <p:cNvPr id="40" name="Text 24"/>
          <p:cNvSpPr/>
          <p:nvPr/>
        </p:nvSpPr>
        <p:spPr>
          <a:xfrm>
            <a:off x="5166360" y="38862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 fresh towels and mints as they leave</a:t>
            </a:r>
            <a:endParaRPr lang="en-US" sz="1150" dirty="0"/>
          </a:p>
        </p:txBody>
      </p:sp>
      <p:pic>
        <p:nvPicPr>
          <p:cNvPr id="41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37760" y="4242816"/>
            <a:ext cx="109728" cy="109728"/>
          </a:xfrm>
          <a:prstGeom prst="rect">
            <a:avLst/>
          </a:prstGeom>
        </p:spPr>
      </p:pic>
      <p:sp>
        <p:nvSpPr>
          <p:cNvPr id="42" name="Text 25"/>
          <p:cNvSpPr/>
          <p:nvPr/>
        </p:nvSpPr>
        <p:spPr>
          <a:xfrm>
            <a:off x="5166360" y="41788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restaurant staff on behalf of Bluuu</a:t>
            </a:r>
            <a:endParaRPr lang="en-US" sz="1150" dirty="0"/>
          </a:p>
        </p:txBody>
      </p:sp>
      <p:pic>
        <p:nvPicPr>
          <p:cNvPr id="43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937760" y="4535424"/>
            <a:ext cx="109728" cy="109728"/>
          </a:xfrm>
          <a:prstGeom prst="rect">
            <a:avLst/>
          </a:prstGeom>
        </p:spPr>
      </p:pic>
      <p:sp>
        <p:nvSpPr>
          <p:cNvPr id="44" name="Text 26"/>
          <p:cNvSpPr/>
          <p:nvPr/>
        </p:nvSpPr>
        <p:spPr>
          <a:xfrm>
            <a:off x="5166360" y="447141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Transition smoothly to next activity</a:t>
            </a:r>
            <a:endParaRPr lang="en-US" sz="1150" dirty="0"/>
          </a:p>
        </p:txBody>
      </p:sp>
      <p:sp>
        <p:nvSpPr>
          <p:cNvPr id="45" name="Shape 27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C9A84C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E8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0A18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PHRASES &amp; SCRIPTS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37160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40233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54864" cy="10515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25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82D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"Welcome aboard Eldorado! My name is [Name],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I'll make sure you have the most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amazing day on the water."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1280160"/>
            <a:ext cx="40233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280160"/>
            <a:ext cx="54864" cy="10515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325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82D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CHAMPAGNE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92040" y="15544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"May I offer you a glass of champagne?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also have our signature Bluuu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Refresher if you prefer non-alcoholic."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514600"/>
            <a:ext cx="40233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514600"/>
            <a:ext cx="54864" cy="10515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560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82D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SNORKELING BRIEF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27889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"You're about to swim with one of the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ocean's most gentle giants. Stay calm,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enjoy the moment — I'll be right beside you."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2514600"/>
            <a:ext cx="40233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514600"/>
            <a:ext cx="54864" cy="10515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560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82D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 SPOT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92040" y="27889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 have a special surprise — a place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few people get to see. Let me take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somewhere magical."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749040"/>
            <a:ext cx="40233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749040"/>
            <a:ext cx="54864" cy="10515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82D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40233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"I'm sorry about that. Let me take care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it right away. In the meantime, can I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you anything?"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3749040"/>
            <a:ext cx="40233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3749040"/>
            <a:ext cx="54864" cy="10515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6" name="Text 24"/>
          <p:cNvSpPr/>
          <p:nvPr/>
        </p:nvSpPr>
        <p:spPr>
          <a:xfrm>
            <a:off x="4892040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82D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FAREWELL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92040" y="40233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"Thank you for choosing Bluuu Elite.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gift is for you — with the best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moments from today. We hope to see you again!"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182DA8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8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 &amp; RESPONSIBILITIES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868680"/>
            <a:ext cx="137160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188720"/>
            <a:ext cx="1554480" cy="3474720"/>
          </a:xfrm>
          <a:prstGeom prst="rect">
            <a:avLst/>
          </a:prstGeom>
          <a:solidFill>
            <a:srgbClr val="0F1E6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188720"/>
            <a:ext cx="155448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13716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CAPTAIN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874520"/>
            <a:ext cx="1417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BEF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navigation &amp; timing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BEF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 monitoring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BEF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Yacht condition &amp; cleanliness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BEF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 with crew on anchoring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BEF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guests at boarding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011680" y="1188720"/>
            <a:ext cx="1554480" cy="3474720"/>
          </a:xfrm>
          <a:prstGeom prst="rect">
            <a:avLst/>
          </a:prstGeom>
          <a:solidFill>
            <a:srgbClr val="0F1E6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011680" y="1188720"/>
            <a:ext cx="155448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1" name="Text 9"/>
          <p:cNvSpPr/>
          <p:nvPr/>
        </p:nvSpPr>
        <p:spPr>
          <a:xfrm>
            <a:off x="2011680" y="13716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CREW #1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03120" y="1874520"/>
            <a:ext cx="1417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BEF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Champagne &amp; drinks service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BEF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Towel service &amp; refreshments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BEF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Deck cleanliness during trip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BEF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 guests in/out of water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BEF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Gear preparation &amp; cleanup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794760" y="1188720"/>
            <a:ext cx="1554480" cy="3474720"/>
          </a:xfrm>
          <a:prstGeom prst="rect">
            <a:avLst/>
          </a:prstGeom>
          <a:solidFill>
            <a:srgbClr val="0F1E6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794760" y="1188720"/>
            <a:ext cx="155448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5" name="Text 13"/>
          <p:cNvSpPr/>
          <p:nvPr/>
        </p:nvSpPr>
        <p:spPr>
          <a:xfrm>
            <a:off x="3794760" y="13716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CREW #2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86200" y="1874520"/>
            <a:ext cx="1417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BEF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service coordination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BEF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GoPro management &amp; charging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BEF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Guest comfort (shade, cushions)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BEF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 with boarding/deboarding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BEF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Gift bag preparation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577840" y="1188720"/>
            <a:ext cx="1554480" cy="3474720"/>
          </a:xfrm>
          <a:prstGeom prst="rect">
            <a:avLst/>
          </a:prstGeom>
          <a:solidFill>
            <a:srgbClr val="0F1E6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577840" y="1188720"/>
            <a:ext cx="155448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9" name="Text 17"/>
          <p:cNvSpPr/>
          <p:nvPr/>
        </p:nvSpPr>
        <p:spPr>
          <a:xfrm>
            <a:off x="5577840" y="13716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 #1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69280" y="1874520"/>
            <a:ext cx="1417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BEF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guide — guest relations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BEF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Snorkeling guidance &amp; safety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BEF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 coordination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BEF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 direction &amp; posing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BEF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experience orchestration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360920" y="1188720"/>
            <a:ext cx="1554480" cy="3474720"/>
          </a:xfrm>
          <a:prstGeom prst="rect">
            <a:avLst/>
          </a:prstGeom>
          <a:solidFill>
            <a:srgbClr val="0F1E6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60920" y="1188720"/>
            <a:ext cx="155448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3" name="Text 21"/>
          <p:cNvSpPr/>
          <p:nvPr/>
        </p:nvSpPr>
        <p:spPr>
          <a:xfrm>
            <a:off x="7360920" y="13716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 #2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52360" y="1874520"/>
            <a:ext cx="1417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BEF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guide — logistics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BEF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Drone operation &amp; footage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BEF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Island tour narration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BEF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backup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BEF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 driver pickups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C9A84C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8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91440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920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spc="5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BLUUU STANDARD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3657600" y="2651760"/>
            <a:ext cx="182880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371600" y="29260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800" i="1" dirty="0">
                <a:solidFill>
                  <a:srgbClr val="F5E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guest should leave thinking:</a:t>
            </a:r>
            <a:endParaRPr lang="en-US" sz="18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800" i="1" dirty="0">
                <a:solidFill>
                  <a:srgbClr val="F5E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"This was the best day of my trip."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371600" y="40233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EF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not just crew. You are the experience.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Elite Tour — First Class Hospitality Training</dc:title>
  <dc:subject>PptxGenJS Presentation</dc:subject>
  <dc:creator>Bluuu Tours</dc:creator>
  <cp:lastModifiedBy>Bluuu Tours</cp:lastModifiedBy>
  <cp:revision>1</cp:revision>
  <dcterms:created xsi:type="dcterms:W3CDTF">2026-04-01T10:44:47Z</dcterms:created>
  <dcterms:modified xsi:type="dcterms:W3CDTF">2026-04-01T10:44:47Z</dcterms:modified>
</cp:coreProperties>
</file>